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Proxima Nova Bold" charset="1" panose="02000506030000020004"/>
      <p:regular r:id="rId15"/>
    </p:embeddedFont>
    <p:embeddedFont>
      <p:font typeface="Proxima Nova" charset="1" panose="02000506030000020004"/>
      <p:regular r:id="rId16"/>
    </p:embeddedFont>
    <p:embeddedFont>
      <p:font typeface="Inter Bold" charset="1" panose="020B0802030000000004"/>
      <p:regular r:id="rId17"/>
    </p:embeddedFont>
    <p:embeddedFont>
      <p:font typeface="Inter" charset="1" panose="020B0502030000000004"/>
      <p:regular r:id="rId18"/>
    </p:embeddedFont>
    <p:embeddedFont>
      <p:font typeface="Canva Sans" charset="1" panose="020B0503030501040103"/>
      <p:regular r:id="rId19"/>
    </p:embeddedFont>
    <p:embeddedFont>
      <p:font typeface="Canva Sans Bold" charset="1" panose="020B08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jpe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2.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3.jpe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35551" y="891010"/>
            <a:ext cx="2977075" cy="275379"/>
          </a:xfrm>
          <a:custGeom>
            <a:avLst/>
            <a:gdLst/>
            <a:ahLst/>
            <a:cxnLst/>
            <a:rect r="r" b="b" t="t" l="l"/>
            <a:pathLst>
              <a:path h="275379" w="2977075">
                <a:moveTo>
                  <a:pt x="0" y="0"/>
                </a:moveTo>
                <a:lnTo>
                  <a:pt x="2977074" y="0"/>
                </a:lnTo>
                <a:lnTo>
                  <a:pt x="2977074" y="275380"/>
                </a:lnTo>
                <a:lnTo>
                  <a:pt x="0" y="2753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761968" y="-1381976"/>
            <a:ext cx="5394589" cy="5372111"/>
          </a:xfrm>
          <a:custGeom>
            <a:avLst/>
            <a:gdLst/>
            <a:ahLst/>
            <a:cxnLst/>
            <a:rect r="r" b="b" t="t" l="l"/>
            <a:pathLst>
              <a:path h="5372111" w="5394589">
                <a:moveTo>
                  <a:pt x="0" y="0"/>
                </a:moveTo>
                <a:lnTo>
                  <a:pt x="5394588" y="0"/>
                </a:lnTo>
                <a:lnTo>
                  <a:pt x="5394588" y="5372111"/>
                </a:lnTo>
                <a:lnTo>
                  <a:pt x="0" y="53721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529129" y="3231413"/>
            <a:ext cx="11170242" cy="2189129"/>
          </a:xfrm>
          <a:prstGeom prst="rect">
            <a:avLst/>
          </a:prstGeom>
        </p:spPr>
        <p:txBody>
          <a:bodyPr anchor="t" rtlCol="false" tIns="0" lIns="0" bIns="0" rIns="0">
            <a:spAutoFit/>
          </a:bodyPr>
          <a:lstStyle/>
          <a:p>
            <a:pPr algn="l">
              <a:lnSpc>
                <a:spcPts val="17924"/>
              </a:lnSpc>
            </a:pPr>
            <a:r>
              <a:rPr lang="en-US" sz="12803" b="true">
                <a:solidFill>
                  <a:srgbClr val="FFFFFF"/>
                </a:solidFill>
                <a:latin typeface="Proxima Nova Bold"/>
                <a:ea typeface="Proxima Nova Bold"/>
                <a:cs typeface="Proxima Nova Bold"/>
                <a:sym typeface="Proxima Nova Bold"/>
              </a:rPr>
              <a:t>Oscillation 3.0</a:t>
            </a:r>
          </a:p>
        </p:txBody>
      </p:sp>
      <p:sp>
        <p:nvSpPr>
          <p:cNvPr name="TextBox 6" id="6"/>
          <p:cNvSpPr txBox="true"/>
          <p:nvPr/>
        </p:nvSpPr>
        <p:spPr>
          <a:xfrm rot="0">
            <a:off x="1529129" y="5019675"/>
            <a:ext cx="6534775" cy="1126799"/>
          </a:xfrm>
          <a:prstGeom prst="rect">
            <a:avLst/>
          </a:prstGeom>
        </p:spPr>
        <p:txBody>
          <a:bodyPr anchor="t" rtlCol="false" tIns="0" lIns="0" bIns="0" rIns="0">
            <a:spAutoFit/>
          </a:bodyPr>
          <a:lstStyle/>
          <a:p>
            <a:pPr algn="l">
              <a:lnSpc>
                <a:spcPts val="9292"/>
              </a:lnSpc>
            </a:pPr>
            <a:r>
              <a:rPr lang="en-US" sz="6637" spc="683">
                <a:solidFill>
                  <a:srgbClr val="05F4F9"/>
                </a:solidFill>
                <a:latin typeface="Proxima Nova"/>
                <a:ea typeface="Proxima Nova"/>
                <a:cs typeface="Proxima Nova"/>
                <a:sym typeface="Proxima Nova"/>
              </a:rPr>
              <a:t>IDEATHON</a:t>
            </a:r>
          </a:p>
        </p:txBody>
      </p:sp>
      <p:sp>
        <p:nvSpPr>
          <p:cNvPr name="TextBox 7" id="7"/>
          <p:cNvSpPr txBox="true"/>
          <p:nvPr/>
        </p:nvSpPr>
        <p:spPr>
          <a:xfrm rot="0">
            <a:off x="1643616" y="6089324"/>
            <a:ext cx="6420288" cy="576254"/>
          </a:xfrm>
          <a:prstGeom prst="rect">
            <a:avLst/>
          </a:prstGeom>
        </p:spPr>
        <p:txBody>
          <a:bodyPr anchor="t" rtlCol="false" tIns="0" lIns="0" bIns="0" rIns="0">
            <a:spAutoFit/>
          </a:bodyPr>
          <a:lstStyle/>
          <a:p>
            <a:pPr algn="l">
              <a:lnSpc>
                <a:spcPts val="4886"/>
              </a:lnSpc>
            </a:pPr>
            <a:r>
              <a:rPr lang="en-US" sz="3490">
                <a:solidFill>
                  <a:srgbClr val="FFFFFF"/>
                </a:solidFill>
                <a:latin typeface="Proxima Nova"/>
                <a:ea typeface="Proxima Nova"/>
                <a:cs typeface="Proxima Nova"/>
                <a:sym typeface="Proxima Nova"/>
              </a:rPr>
              <a:t>Pitch Deck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0">
            <a:off x="1876130" y="3716750"/>
            <a:ext cx="3298754" cy="3791672"/>
          </a:xfrm>
          <a:custGeom>
            <a:avLst/>
            <a:gdLst/>
            <a:ahLst/>
            <a:cxnLst/>
            <a:rect r="r" b="b" t="t" l="l"/>
            <a:pathLst>
              <a:path h="3791672" w="3298754">
                <a:moveTo>
                  <a:pt x="0" y="0"/>
                </a:moveTo>
                <a:lnTo>
                  <a:pt x="3298754" y="0"/>
                </a:lnTo>
                <a:lnTo>
                  <a:pt x="3298754" y="3791672"/>
                </a:lnTo>
                <a:lnTo>
                  <a:pt x="0" y="37916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2147301" y="3787436"/>
            <a:ext cx="2756411" cy="3451164"/>
            <a:chOff x="0" y="0"/>
            <a:chExt cx="721798" cy="903727"/>
          </a:xfrm>
        </p:grpSpPr>
        <p:sp>
          <p:nvSpPr>
            <p:cNvPr name="Freeform 5" id="5"/>
            <p:cNvSpPr/>
            <p:nvPr/>
          </p:nvSpPr>
          <p:spPr>
            <a:xfrm flipH="false" flipV="false" rot="0">
              <a:off x="0" y="0"/>
              <a:ext cx="721798" cy="903727"/>
            </a:xfrm>
            <a:custGeom>
              <a:avLst/>
              <a:gdLst/>
              <a:ahLst/>
              <a:cxnLst/>
              <a:rect r="r" b="b" t="t" l="l"/>
              <a:pathLst>
                <a:path h="903727" w="721798">
                  <a:moveTo>
                    <a:pt x="0" y="0"/>
                  </a:moveTo>
                  <a:lnTo>
                    <a:pt x="721798" y="0"/>
                  </a:lnTo>
                  <a:lnTo>
                    <a:pt x="721798" y="903727"/>
                  </a:lnTo>
                  <a:lnTo>
                    <a:pt x="0" y="903727"/>
                  </a:lnTo>
                  <a:close/>
                </a:path>
              </a:pathLst>
            </a:custGeom>
            <a:blipFill>
              <a:blip r:embed="rId5"/>
              <a:stretch>
                <a:fillRect l="-4209" t="-10462" r="0" b="-14384"/>
              </a:stretch>
            </a:blipFill>
          </p:spPr>
        </p:sp>
      </p:grpSp>
      <p:sp>
        <p:nvSpPr>
          <p:cNvPr name="Freeform 6" id="6"/>
          <p:cNvSpPr/>
          <p:nvPr/>
        </p:nvSpPr>
        <p:spPr>
          <a:xfrm flipH="false" flipV="false" rot="0">
            <a:off x="1435551" y="891010"/>
            <a:ext cx="2977075" cy="275379"/>
          </a:xfrm>
          <a:custGeom>
            <a:avLst/>
            <a:gdLst/>
            <a:ahLst/>
            <a:cxnLst/>
            <a:rect r="r" b="b" t="t" l="l"/>
            <a:pathLst>
              <a:path h="275379" w="2977075">
                <a:moveTo>
                  <a:pt x="0" y="0"/>
                </a:moveTo>
                <a:lnTo>
                  <a:pt x="2977074" y="0"/>
                </a:lnTo>
                <a:lnTo>
                  <a:pt x="2977074" y="275380"/>
                </a:lnTo>
                <a:lnTo>
                  <a:pt x="0" y="2753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883238" y="-1823701"/>
            <a:ext cx="4116515" cy="4114800"/>
          </a:xfrm>
          <a:custGeom>
            <a:avLst/>
            <a:gdLst/>
            <a:ahLst/>
            <a:cxnLst/>
            <a:rect r="r" b="b" t="t" l="l"/>
            <a:pathLst>
              <a:path h="4114800" w="4116515">
                <a:moveTo>
                  <a:pt x="0" y="0"/>
                </a:moveTo>
                <a:lnTo>
                  <a:pt x="4116515" y="0"/>
                </a:lnTo>
                <a:lnTo>
                  <a:pt x="411651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2034005" y="2101894"/>
            <a:ext cx="4186565" cy="991870"/>
          </a:xfrm>
          <a:prstGeom prst="rect">
            <a:avLst/>
          </a:prstGeom>
        </p:spPr>
        <p:txBody>
          <a:bodyPr anchor="t" rtlCol="false" tIns="0" lIns="0" bIns="0" rIns="0">
            <a:spAutoFit/>
          </a:bodyPr>
          <a:lstStyle/>
          <a:p>
            <a:pPr algn="l">
              <a:lnSpc>
                <a:spcPts val="7865"/>
              </a:lnSpc>
            </a:pPr>
            <a:r>
              <a:rPr lang="en-US" sz="6500" b="true">
                <a:solidFill>
                  <a:srgbClr val="FFFFFF"/>
                </a:solidFill>
                <a:latin typeface="Proxima Nova Bold"/>
                <a:ea typeface="Proxima Nova Bold"/>
                <a:cs typeface="Proxima Nova Bold"/>
                <a:sym typeface="Proxima Nova Bold"/>
              </a:rPr>
              <a:t>Our </a:t>
            </a:r>
          </a:p>
        </p:txBody>
      </p:sp>
      <p:sp>
        <p:nvSpPr>
          <p:cNvPr name="TextBox 9" id="9"/>
          <p:cNvSpPr txBox="true"/>
          <p:nvPr/>
        </p:nvSpPr>
        <p:spPr>
          <a:xfrm rot="0">
            <a:off x="3730169" y="2101894"/>
            <a:ext cx="2803261" cy="991870"/>
          </a:xfrm>
          <a:prstGeom prst="rect">
            <a:avLst/>
          </a:prstGeom>
        </p:spPr>
        <p:txBody>
          <a:bodyPr anchor="t" rtlCol="false" tIns="0" lIns="0" bIns="0" rIns="0">
            <a:spAutoFit/>
          </a:bodyPr>
          <a:lstStyle/>
          <a:p>
            <a:pPr algn="l">
              <a:lnSpc>
                <a:spcPts val="7865"/>
              </a:lnSpc>
            </a:pPr>
            <a:r>
              <a:rPr lang="en-US" sz="6500" b="true">
                <a:solidFill>
                  <a:srgbClr val="05F4F9"/>
                </a:solidFill>
                <a:latin typeface="Proxima Nova Bold"/>
                <a:ea typeface="Proxima Nova Bold"/>
                <a:cs typeface="Proxima Nova Bold"/>
                <a:sym typeface="Proxima Nova Bold"/>
              </a:rPr>
              <a:t>Team</a:t>
            </a:r>
          </a:p>
        </p:txBody>
      </p:sp>
      <p:sp>
        <p:nvSpPr>
          <p:cNvPr name="TextBox 10" id="10"/>
          <p:cNvSpPr txBox="true"/>
          <p:nvPr/>
        </p:nvSpPr>
        <p:spPr>
          <a:xfrm rot="0">
            <a:off x="2147301" y="7799491"/>
            <a:ext cx="2756411" cy="376090"/>
          </a:xfrm>
          <a:prstGeom prst="rect">
            <a:avLst/>
          </a:prstGeom>
        </p:spPr>
        <p:txBody>
          <a:bodyPr anchor="t" rtlCol="false" tIns="0" lIns="0" bIns="0" rIns="0">
            <a:spAutoFit/>
          </a:bodyPr>
          <a:lstStyle/>
          <a:p>
            <a:pPr algn="ctr">
              <a:lnSpc>
                <a:spcPts val="2965"/>
              </a:lnSpc>
            </a:pPr>
            <a:r>
              <a:rPr lang="en-US" sz="2391" b="true">
                <a:solidFill>
                  <a:srgbClr val="05F4F9"/>
                </a:solidFill>
                <a:latin typeface="Inter Bold"/>
                <a:ea typeface="Inter Bold"/>
                <a:cs typeface="Inter Bold"/>
                <a:sym typeface="Inter Bold"/>
              </a:rPr>
              <a:t>Team Member 1</a:t>
            </a:r>
          </a:p>
        </p:txBody>
      </p:sp>
      <p:sp>
        <p:nvSpPr>
          <p:cNvPr name="Freeform 11" id="11"/>
          <p:cNvSpPr/>
          <p:nvPr/>
        </p:nvSpPr>
        <p:spPr>
          <a:xfrm flipH="false" flipV="false" rot="0">
            <a:off x="5687370" y="3716750"/>
            <a:ext cx="3298754" cy="3791672"/>
          </a:xfrm>
          <a:custGeom>
            <a:avLst/>
            <a:gdLst/>
            <a:ahLst/>
            <a:cxnLst/>
            <a:rect r="r" b="b" t="t" l="l"/>
            <a:pathLst>
              <a:path h="3791672" w="3298754">
                <a:moveTo>
                  <a:pt x="0" y="0"/>
                </a:moveTo>
                <a:lnTo>
                  <a:pt x="3298754" y="0"/>
                </a:lnTo>
                <a:lnTo>
                  <a:pt x="3298754" y="3791672"/>
                </a:lnTo>
                <a:lnTo>
                  <a:pt x="0" y="37916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5958542" y="3787436"/>
            <a:ext cx="2756411" cy="3451164"/>
            <a:chOff x="0" y="0"/>
            <a:chExt cx="721798" cy="903727"/>
          </a:xfrm>
        </p:grpSpPr>
        <p:sp>
          <p:nvSpPr>
            <p:cNvPr name="Freeform 13" id="13"/>
            <p:cNvSpPr/>
            <p:nvPr/>
          </p:nvSpPr>
          <p:spPr>
            <a:xfrm flipH="false" flipV="false" rot="0">
              <a:off x="0" y="0"/>
              <a:ext cx="721798" cy="903727"/>
            </a:xfrm>
            <a:custGeom>
              <a:avLst/>
              <a:gdLst/>
              <a:ahLst/>
              <a:cxnLst/>
              <a:rect r="r" b="b" t="t" l="l"/>
              <a:pathLst>
                <a:path h="903727" w="721798">
                  <a:moveTo>
                    <a:pt x="0" y="0"/>
                  </a:moveTo>
                  <a:lnTo>
                    <a:pt x="721798" y="0"/>
                  </a:lnTo>
                  <a:lnTo>
                    <a:pt x="721798" y="903727"/>
                  </a:lnTo>
                  <a:lnTo>
                    <a:pt x="0" y="903727"/>
                  </a:lnTo>
                  <a:close/>
                </a:path>
              </a:pathLst>
            </a:custGeom>
            <a:blipFill>
              <a:blip r:embed="rId5"/>
              <a:stretch>
                <a:fillRect l="-4209" t="-10462" r="0" b="-14384"/>
              </a:stretch>
            </a:blipFill>
          </p:spPr>
        </p:sp>
      </p:grpSp>
      <p:sp>
        <p:nvSpPr>
          <p:cNvPr name="TextBox 14" id="14"/>
          <p:cNvSpPr txBox="true"/>
          <p:nvPr/>
        </p:nvSpPr>
        <p:spPr>
          <a:xfrm rot="0">
            <a:off x="5958542" y="7799491"/>
            <a:ext cx="2756411" cy="376090"/>
          </a:xfrm>
          <a:prstGeom prst="rect">
            <a:avLst/>
          </a:prstGeom>
        </p:spPr>
        <p:txBody>
          <a:bodyPr anchor="t" rtlCol="false" tIns="0" lIns="0" bIns="0" rIns="0">
            <a:spAutoFit/>
          </a:bodyPr>
          <a:lstStyle/>
          <a:p>
            <a:pPr algn="ctr">
              <a:lnSpc>
                <a:spcPts val="2965"/>
              </a:lnSpc>
            </a:pPr>
            <a:r>
              <a:rPr lang="en-US" sz="2391" b="true">
                <a:solidFill>
                  <a:srgbClr val="05F4F9"/>
                </a:solidFill>
                <a:latin typeface="Inter Bold"/>
                <a:ea typeface="Inter Bold"/>
                <a:cs typeface="Inter Bold"/>
                <a:sym typeface="Inter Bold"/>
              </a:rPr>
              <a:t>Team Member 2</a:t>
            </a:r>
          </a:p>
        </p:txBody>
      </p:sp>
      <p:sp>
        <p:nvSpPr>
          <p:cNvPr name="Freeform 15" id="15"/>
          <p:cNvSpPr/>
          <p:nvPr/>
        </p:nvSpPr>
        <p:spPr>
          <a:xfrm flipH="false" flipV="false" rot="0">
            <a:off x="9500474" y="3716750"/>
            <a:ext cx="3298754" cy="3791672"/>
          </a:xfrm>
          <a:custGeom>
            <a:avLst/>
            <a:gdLst/>
            <a:ahLst/>
            <a:cxnLst/>
            <a:rect r="r" b="b" t="t" l="l"/>
            <a:pathLst>
              <a:path h="3791672" w="3298754">
                <a:moveTo>
                  <a:pt x="0" y="0"/>
                </a:moveTo>
                <a:lnTo>
                  <a:pt x="3298755" y="0"/>
                </a:lnTo>
                <a:lnTo>
                  <a:pt x="3298755" y="3791672"/>
                </a:lnTo>
                <a:lnTo>
                  <a:pt x="0" y="37916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9771646" y="3787436"/>
            <a:ext cx="2756411" cy="3451164"/>
            <a:chOff x="0" y="0"/>
            <a:chExt cx="721798" cy="903727"/>
          </a:xfrm>
        </p:grpSpPr>
        <p:sp>
          <p:nvSpPr>
            <p:cNvPr name="Freeform 17" id="17"/>
            <p:cNvSpPr/>
            <p:nvPr/>
          </p:nvSpPr>
          <p:spPr>
            <a:xfrm flipH="false" flipV="false" rot="0">
              <a:off x="0" y="0"/>
              <a:ext cx="721798" cy="903727"/>
            </a:xfrm>
            <a:custGeom>
              <a:avLst/>
              <a:gdLst/>
              <a:ahLst/>
              <a:cxnLst/>
              <a:rect r="r" b="b" t="t" l="l"/>
              <a:pathLst>
                <a:path h="903727" w="721798">
                  <a:moveTo>
                    <a:pt x="0" y="0"/>
                  </a:moveTo>
                  <a:lnTo>
                    <a:pt x="721798" y="0"/>
                  </a:lnTo>
                  <a:lnTo>
                    <a:pt x="721798" y="903727"/>
                  </a:lnTo>
                  <a:lnTo>
                    <a:pt x="0" y="903727"/>
                  </a:lnTo>
                  <a:close/>
                </a:path>
              </a:pathLst>
            </a:custGeom>
            <a:blipFill>
              <a:blip r:embed="rId5"/>
              <a:stretch>
                <a:fillRect l="-4209" t="-10462" r="0" b="-14384"/>
              </a:stretch>
            </a:blipFill>
          </p:spPr>
        </p:sp>
      </p:grpSp>
      <p:sp>
        <p:nvSpPr>
          <p:cNvPr name="TextBox 18" id="18"/>
          <p:cNvSpPr txBox="true"/>
          <p:nvPr/>
        </p:nvSpPr>
        <p:spPr>
          <a:xfrm rot="0">
            <a:off x="9771646" y="7799491"/>
            <a:ext cx="2756411" cy="376090"/>
          </a:xfrm>
          <a:prstGeom prst="rect">
            <a:avLst/>
          </a:prstGeom>
        </p:spPr>
        <p:txBody>
          <a:bodyPr anchor="t" rtlCol="false" tIns="0" lIns="0" bIns="0" rIns="0">
            <a:spAutoFit/>
          </a:bodyPr>
          <a:lstStyle/>
          <a:p>
            <a:pPr algn="ctr">
              <a:lnSpc>
                <a:spcPts val="2965"/>
              </a:lnSpc>
            </a:pPr>
            <a:r>
              <a:rPr lang="en-US" sz="2391" b="true">
                <a:solidFill>
                  <a:srgbClr val="05F4F9"/>
                </a:solidFill>
                <a:latin typeface="Inter Bold"/>
                <a:ea typeface="Inter Bold"/>
                <a:cs typeface="Inter Bold"/>
                <a:sym typeface="Inter Bold"/>
              </a:rPr>
              <a:t>Team Member 3</a:t>
            </a:r>
          </a:p>
        </p:txBody>
      </p:sp>
      <p:sp>
        <p:nvSpPr>
          <p:cNvPr name="Freeform 19" id="19"/>
          <p:cNvSpPr/>
          <p:nvPr/>
        </p:nvSpPr>
        <p:spPr>
          <a:xfrm flipH="false" flipV="false" rot="0">
            <a:off x="13113116" y="3716750"/>
            <a:ext cx="3298754" cy="3791672"/>
          </a:xfrm>
          <a:custGeom>
            <a:avLst/>
            <a:gdLst/>
            <a:ahLst/>
            <a:cxnLst/>
            <a:rect r="r" b="b" t="t" l="l"/>
            <a:pathLst>
              <a:path h="3791672" w="3298754">
                <a:moveTo>
                  <a:pt x="0" y="0"/>
                </a:moveTo>
                <a:lnTo>
                  <a:pt x="3298754" y="0"/>
                </a:lnTo>
                <a:lnTo>
                  <a:pt x="3298754" y="3791672"/>
                </a:lnTo>
                <a:lnTo>
                  <a:pt x="0" y="37916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0" id="20"/>
          <p:cNvGrpSpPr/>
          <p:nvPr/>
        </p:nvGrpSpPr>
        <p:grpSpPr>
          <a:xfrm rot="0">
            <a:off x="13384288" y="3787436"/>
            <a:ext cx="2756411" cy="3451164"/>
            <a:chOff x="0" y="0"/>
            <a:chExt cx="721798" cy="903727"/>
          </a:xfrm>
        </p:grpSpPr>
        <p:sp>
          <p:nvSpPr>
            <p:cNvPr name="Freeform 21" id="21"/>
            <p:cNvSpPr/>
            <p:nvPr/>
          </p:nvSpPr>
          <p:spPr>
            <a:xfrm flipH="false" flipV="false" rot="0">
              <a:off x="0" y="0"/>
              <a:ext cx="721798" cy="903727"/>
            </a:xfrm>
            <a:custGeom>
              <a:avLst/>
              <a:gdLst/>
              <a:ahLst/>
              <a:cxnLst/>
              <a:rect r="r" b="b" t="t" l="l"/>
              <a:pathLst>
                <a:path h="903727" w="721798">
                  <a:moveTo>
                    <a:pt x="0" y="0"/>
                  </a:moveTo>
                  <a:lnTo>
                    <a:pt x="721798" y="0"/>
                  </a:lnTo>
                  <a:lnTo>
                    <a:pt x="721798" y="903727"/>
                  </a:lnTo>
                  <a:lnTo>
                    <a:pt x="0" y="903727"/>
                  </a:lnTo>
                  <a:close/>
                </a:path>
              </a:pathLst>
            </a:custGeom>
            <a:blipFill>
              <a:blip r:embed="rId5"/>
              <a:stretch>
                <a:fillRect l="-4209" t="-10462" r="0" b="-14384"/>
              </a:stretch>
            </a:blipFill>
          </p:spPr>
        </p:sp>
      </p:grpSp>
      <p:sp>
        <p:nvSpPr>
          <p:cNvPr name="TextBox 22" id="22"/>
          <p:cNvSpPr txBox="true"/>
          <p:nvPr/>
        </p:nvSpPr>
        <p:spPr>
          <a:xfrm rot="0">
            <a:off x="13384288" y="7799491"/>
            <a:ext cx="2756411" cy="376090"/>
          </a:xfrm>
          <a:prstGeom prst="rect">
            <a:avLst/>
          </a:prstGeom>
        </p:spPr>
        <p:txBody>
          <a:bodyPr anchor="t" rtlCol="false" tIns="0" lIns="0" bIns="0" rIns="0">
            <a:spAutoFit/>
          </a:bodyPr>
          <a:lstStyle/>
          <a:p>
            <a:pPr algn="ctr">
              <a:lnSpc>
                <a:spcPts val="2965"/>
              </a:lnSpc>
            </a:pPr>
            <a:r>
              <a:rPr lang="en-US" sz="2391" b="true">
                <a:solidFill>
                  <a:srgbClr val="05F4F9"/>
                </a:solidFill>
                <a:latin typeface="Inter Bold"/>
                <a:ea typeface="Inter Bold"/>
                <a:cs typeface="Inter Bold"/>
                <a:sym typeface="Inter Bold"/>
              </a:rPr>
              <a:t>Team Member 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0">
            <a:off x="7411908" y="-3649234"/>
            <a:ext cx="14832699" cy="14325915"/>
          </a:xfrm>
          <a:custGeom>
            <a:avLst/>
            <a:gdLst/>
            <a:ahLst/>
            <a:cxnLst/>
            <a:rect r="r" b="b" t="t" l="l"/>
            <a:pathLst>
              <a:path h="14325915" w="14832699">
                <a:moveTo>
                  <a:pt x="0" y="0"/>
                </a:moveTo>
                <a:lnTo>
                  <a:pt x="14832700" y="0"/>
                </a:lnTo>
                <a:lnTo>
                  <a:pt x="14832700" y="14325915"/>
                </a:lnTo>
                <a:lnTo>
                  <a:pt x="0" y="14325915"/>
                </a:lnTo>
                <a:lnTo>
                  <a:pt x="0" y="0"/>
                </a:lnTo>
                <a:close/>
              </a:path>
            </a:pathLst>
          </a:custGeom>
          <a:blipFill>
            <a:blip r:embed="rId3"/>
            <a:stretch>
              <a:fillRect l="0" t="0" r="0" b="0"/>
            </a:stretch>
          </a:blipFill>
        </p:spPr>
      </p:sp>
      <p:sp>
        <p:nvSpPr>
          <p:cNvPr name="Freeform 4" id="4"/>
          <p:cNvSpPr/>
          <p:nvPr/>
        </p:nvSpPr>
        <p:spPr>
          <a:xfrm flipH="false" flipV="false" rot="0">
            <a:off x="1435551" y="891010"/>
            <a:ext cx="2977075" cy="275379"/>
          </a:xfrm>
          <a:custGeom>
            <a:avLst/>
            <a:gdLst/>
            <a:ahLst/>
            <a:cxnLst/>
            <a:rect r="r" b="b" t="t" l="l"/>
            <a:pathLst>
              <a:path h="275379" w="2977075">
                <a:moveTo>
                  <a:pt x="0" y="0"/>
                </a:moveTo>
                <a:lnTo>
                  <a:pt x="2977074" y="0"/>
                </a:lnTo>
                <a:lnTo>
                  <a:pt x="2977074" y="275380"/>
                </a:lnTo>
                <a:lnTo>
                  <a:pt x="0" y="2753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8533233" y="-2039914"/>
            <a:ext cx="11811341" cy="1181134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39732" t="0" r="-38045" b="0"/>
              </a:stretch>
            </a:blipFill>
          </p:spPr>
        </p:sp>
      </p:grpSp>
      <p:sp>
        <p:nvSpPr>
          <p:cNvPr name="Freeform 7" id="7"/>
          <p:cNvSpPr/>
          <p:nvPr/>
        </p:nvSpPr>
        <p:spPr>
          <a:xfrm flipH="false" flipV="false" rot="0">
            <a:off x="5029200" y="815567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034005" y="2437158"/>
            <a:ext cx="5622069" cy="2273300"/>
          </a:xfrm>
          <a:prstGeom prst="rect">
            <a:avLst/>
          </a:prstGeom>
        </p:spPr>
        <p:txBody>
          <a:bodyPr anchor="t" rtlCol="false" tIns="0" lIns="0" bIns="0" rIns="0">
            <a:spAutoFit/>
          </a:bodyPr>
          <a:lstStyle/>
          <a:p>
            <a:pPr algn="l">
              <a:lnSpc>
                <a:spcPts val="9100"/>
              </a:lnSpc>
            </a:pPr>
            <a:r>
              <a:rPr lang="en-US" sz="6500" b="true">
                <a:solidFill>
                  <a:srgbClr val="05F4F9"/>
                </a:solidFill>
                <a:latin typeface="Proxima Nova Bold"/>
                <a:ea typeface="Proxima Nova Bold"/>
                <a:cs typeface="Proxima Nova Bold"/>
                <a:sym typeface="Proxima Nova Bold"/>
              </a:rPr>
              <a:t>Problem Statement</a:t>
            </a:r>
          </a:p>
        </p:txBody>
      </p:sp>
      <p:sp>
        <p:nvSpPr>
          <p:cNvPr name="TextBox 9" id="9"/>
          <p:cNvSpPr txBox="true"/>
          <p:nvPr/>
        </p:nvSpPr>
        <p:spPr>
          <a:xfrm rot="0">
            <a:off x="2034005" y="5001143"/>
            <a:ext cx="5622069" cy="2816225"/>
          </a:xfrm>
          <a:prstGeom prst="rect">
            <a:avLst/>
          </a:prstGeom>
        </p:spPr>
        <p:txBody>
          <a:bodyPr anchor="t" rtlCol="false" tIns="0" lIns="0" bIns="0" rIns="0">
            <a:spAutoFit/>
          </a:bodyPr>
          <a:lstStyle/>
          <a:p>
            <a:pPr algn="l">
              <a:lnSpc>
                <a:spcPts val="2800"/>
              </a:lnSpc>
            </a:pPr>
            <a:r>
              <a:rPr lang="en-US" sz="2000">
                <a:solidFill>
                  <a:srgbClr val="FFFFFF"/>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0">
            <a:off x="1435551" y="891010"/>
            <a:ext cx="2977075" cy="275379"/>
          </a:xfrm>
          <a:custGeom>
            <a:avLst/>
            <a:gdLst/>
            <a:ahLst/>
            <a:cxnLst/>
            <a:rect r="r" b="b" t="t" l="l"/>
            <a:pathLst>
              <a:path h="275379" w="2977075">
                <a:moveTo>
                  <a:pt x="0" y="0"/>
                </a:moveTo>
                <a:lnTo>
                  <a:pt x="2977074" y="0"/>
                </a:lnTo>
                <a:lnTo>
                  <a:pt x="2977074" y="275380"/>
                </a:lnTo>
                <a:lnTo>
                  <a:pt x="0" y="2753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68594" y="5901416"/>
            <a:ext cx="5394589" cy="5372111"/>
          </a:xfrm>
          <a:custGeom>
            <a:avLst/>
            <a:gdLst/>
            <a:ahLst/>
            <a:cxnLst/>
            <a:rect r="r" b="b" t="t" l="l"/>
            <a:pathLst>
              <a:path h="5372111" w="5394589">
                <a:moveTo>
                  <a:pt x="0" y="0"/>
                </a:moveTo>
                <a:lnTo>
                  <a:pt x="5394588" y="0"/>
                </a:lnTo>
                <a:lnTo>
                  <a:pt x="5394588" y="5372111"/>
                </a:lnTo>
                <a:lnTo>
                  <a:pt x="0" y="53721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435551" y="1244448"/>
            <a:ext cx="4135424" cy="1120775"/>
          </a:xfrm>
          <a:prstGeom prst="rect">
            <a:avLst/>
          </a:prstGeom>
        </p:spPr>
        <p:txBody>
          <a:bodyPr anchor="t" rtlCol="false" tIns="0" lIns="0" bIns="0" rIns="0">
            <a:spAutoFit/>
          </a:bodyPr>
          <a:lstStyle/>
          <a:p>
            <a:pPr algn="l">
              <a:lnSpc>
                <a:spcPts val="9100"/>
              </a:lnSpc>
            </a:pPr>
            <a:r>
              <a:rPr lang="en-US" sz="6500" b="true">
                <a:solidFill>
                  <a:srgbClr val="FFFFFF"/>
                </a:solidFill>
                <a:latin typeface="Proxima Nova Bold"/>
                <a:ea typeface="Proxima Nova Bold"/>
                <a:cs typeface="Proxima Nova Bold"/>
                <a:sym typeface="Proxima Nova Bold"/>
              </a:rPr>
              <a:t>Proposed</a:t>
            </a:r>
          </a:p>
        </p:txBody>
      </p:sp>
      <p:sp>
        <p:nvSpPr>
          <p:cNvPr name="TextBox 6" id="6"/>
          <p:cNvSpPr txBox="true"/>
          <p:nvPr/>
        </p:nvSpPr>
        <p:spPr>
          <a:xfrm rot="0">
            <a:off x="5227460" y="1239121"/>
            <a:ext cx="3187261" cy="1120775"/>
          </a:xfrm>
          <a:prstGeom prst="rect">
            <a:avLst/>
          </a:prstGeom>
        </p:spPr>
        <p:txBody>
          <a:bodyPr anchor="t" rtlCol="false" tIns="0" lIns="0" bIns="0" rIns="0">
            <a:spAutoFit/>
          </a:bodyPr>
          <a:lstStyle/>
          <a:p>
            <a:pPr algn="l">
              <a:lnSpc>
                <a:spcPts val="9100"/>
              </a:lnSpc>
            </a:pPr>
            <a:r>
              <a:rPr lang="en-US" sz="6500" b="true">
                <a:solidFill>
                  <a:srgbClr val="05F4F9"/>
                </a:solidFill>
                <a:latin typeface="Proxima Nova Bold"/>
                <a:ea typeface="Proxima Nova Bold"/>
                <a:cs typeface="Proxima Nova Bold"/>
                <a:sym typeface="Proxima Nova Bold"/>
              </a:rPr>
              <a:t>Solution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TextBox 3" id="3"/>
          <p:cNvSpPr txBox="true"/>
          <p:nvPr/>
        </p:nvSpPr>
        <p:spPr>
          <a:xfrm rot="0">
            <a:off x="1435551" y="1408651"/>
            <a:ext cx="10272859" cy="1120775"/>
          </a:xfrm>
          <a:prstGeom prst="rect">
            <a:avLst/>
          </a:prstGeom>
        </p:spPr>
        <p:txBody>
          <a:bodyPr anchor="t" rtlCol="false" tIns="0" lIns="0" bIns="0" rIns="0">
            <a:spAutoFit/>
          </a:bodyPr>
          <a:lstStyle/>
          <a:p>
            <a:pPr algn="l">
              <a:lnSpc>
                <a:spcPts val="9100"/>
              </a:lnSpc>
            </a:pPr>
            <a:r>
              <a:rPr lang="en-US" sz="6500" b="true">
                <a:solidFill>
                  <a:srgbClr val="05F4F9"/>
                </a:solidFill>
                <a:latin typeface="Proxima Nova Bold"/>
                <a:ea typeface="Proxima Nova Bold"/>
                <a:cs typeface="Proxima Nova Bold"/>
                <a:sym typeface="Proxima Nova Bold"/>
              </a:rPr>
              <a:t>Identified Gaps</a:t>
            </a:r>
          </a:p>
        </p:txBody>
      </p:sp>
      <p:sp>
        <p:nvSpPr>
          <p:cNvPr name="Freeform 4" id="4"/>
          <p:cNvSpPr/>
          <p:nvPr/>
        </p:nvSpPr>
        <p:spPr>
          <a:xfrm flipH="false" flipV="false" rot="0">
            <a:off x="1435551" y="891010"/>
            <a:ext cx="2977075" cy="275379"/>
          </a:xfrm>
          <a:custGeom>
            <a:avLst/>
            <a:gdLst/>
            <a:ahLst/>
            <a:cxnLst/>
            <a:rect r="r" b="b" t="t" l="l"/>
            <a:pathLst>
              <a:path h="275379" w="2977075">
                <a:moveTo>
                  <a:pt x="0" y="0"/>
                </a:moveTo>
                <a:lnTo>
                  <a:pt x="2977074" y="0"/>
                </a:lnTo>
                <a:lnTo>
                  <a:pt x="2977074" y="275380"/>
                </a:lnTo>
                <a:lnTo>
                  <a:pt x="0" y="2753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527405" y="-1749957"/>
            <a:ext cx="4696703" cy="4677134"/>
          </a:xfrm>
          <a:custGeom>
            <a:avLst/>
            <a:gdLst/>
            <a:ahLst/>
            <a:cxnLst/>
            <a:rect r="r" b="b" t="t" l="l"/>
            <a:pathLst>
              <a:path h="4677134" w="4696703">
                <a:moveTo>
                  <a:pt x="0" y="0"/>
                </a:moveTo>
                <a:lnTo>
                  <a:pt x="4696703" y="0"/>
                </a:lnTo>
                <a:lnTo>
                  <a:pt x="4696703" y="4677134"/>
                </a:lnTo>
                <a:lnTo>
                  <a:pt x="0" y="46771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550545" y="8814732"/>
            <a:ext cx="4303256" cy="2033288"/>
          </a:xfrm>
          <a:custGeom>
            <a:avLst/>
            <a:gdLst/>
            <a:ahLst/>
            <a:cxnLst/>
            <a:rect r="r" b="b" t="t" l="l"/>
            <a:pathLst>
              <a:path h="2033288" w="4303256">
                <a:moveTo>
                  <a:pt x="0" y="0"/>
                </a:moveTo>
                <a:lnTo>
                  <a:pt x="4303256" y="0"/>
                </a:lnTo>
                <a:lnTo>
                  <a:pt x="4303256" y="2033288"/>
                </a:lnTo>
                <a:lnTo>
                  <a:pt x="0" y="20332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435551" y="2853276"/>
            <a:ext cx="14091854" cy="1054100"/>
          </a:xfrm>
          <a:prstGeom prst="rect">
            <a:avLst/>
          </a:prstGeom>
        </p:spPr>
        <p:txBody>
          <a:bodyPr anchor="t" rtlCol="false" tIns="0" lIns="0" bIns="0" rIns="0">
            <a:spAutoFit/>
          </a:bodyPr>
          <a:lstStyle/>
          <a:p>
            <a:pPr algn="l">
              <a:lnSpc>
                <a:spcPts val="2800"/>
              </a:lnSpc>
            </a:pPr>
            <a:r>
              <a:rPr lang="en-US" sz="2000">
                <a:solidFill>
                  <a:srgbClr val="FFFFFF"/>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TextBox 3" id="3"/>
          <p:cNvSpPr txBox="true"/>
          <p:nvPr/>
        </p:nvSpPr>
        <p:spPr>
          <a:xfrm rot="0">
            <a:off x="1597914" y="1711624"/>
            <a:ext cx="15488677" cy="1120775"/>
          </a:xfrm>
          <a:prstGeom prst="rect">
            <a:avLst/>
          </a:prstGeom>
        </p:spPr>
        <p:txBody>
          <a:bodyPr anchor="t" rtlCol="false" tIns="0" lIns="0" bIns="0" rIns="0">
            <a:spAutoFit/>
          </a:bodyPr>
          <a:lstStyle/>
          <a:p>
            <a:pPr algn="ctr">
              <a:lnSpc>
                <a:spcPts val="9100"/>
              </a:lnSpc>
            </a:pPr>
            <a:r>
              <a:rPr lang="en-US" sz="6500" b="true">
                <a:solidFill>
                  <a:srgbClr val="05F4F9"/>
                </a:solidFill>
                <a:latin typeface="Proxima Nova Bold"/>
                <a:ea typeface="Proxima Nova Bold"/>
                <a:cs typeface="Proxima Nova Bold"/>
                <a:sym typeface="Proxima Nova Bold"/>
              </a:rPr>
              <a:t>Novelty (How the idea is innovative)</a:t>
            </a:r>
          </a:p>
        </p:txBody>
      </p:sp>
      <p:sp>
        <p:nvSpPr>
          <p:cNvPr name="TextBox 4" id="4"/>
          <p:cNvSpPr txBox="true"/>
          <p:nvPr/>
        </p:nvSpPr>
        <p:spPr>
          <a:xfrm rot="0">
            <a:off x="3128932" y="3270729"/>
            <a:ext cx="12030135" cy="1406525"/>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
        <p:nvSpPr>
          <p:cNvPr name="Freeform 5" id="5"/>
          <p:cNvSpPr/>
          <p:nvPr/>
        </p:nvSpPr>
        <p:spPr>
          <a:xfrm flipH="false" flipV="false" rot="0">
            <a:off x="1435551" y="891010"/>
            <a:ext cx="2977075" cy="275379"/>
          </a:xfrm>
          <a:custGeom>
            <a:avLst/>
            <a:gdLst/>
            <a:ahLst/>
            <a:cxnLst/>
            <a:rect r="r" b="b" t="t" l="l"/>
            <a:pathLst>
              <a:path h="275379" w="2977075">
                <a:moveTo>
                  <a:pt x="0" y="0"/>
                </a:moveTo>
                <a:lnTo>
                  <a:pt x="2977074" y="0"/>
                </a:lnTo>
                <a:lnTo>
                  <a:pt x="2977074" y="275380"/>
                </a:lnTo>
                <a:lnTo>
                  <a:pt x="0" y="2753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6327528" y="2338687"/>
            <a:ext cx="4696703" cy="4677134"/>
          </a:xfrm>
          <a:custGeom>
            <a:avLst/>
            <a:gdLst/>
            <a:ahLst/>
            <a:cxnLst/>
            <a:rect r="r" b="b" t="t" l="l"/>
            <a:pathLst>
              <a:path h="4677134" w="4696703">
                <a:moveTo>
                  <a:pt x="0" y="0"/>
                </a:moveTo>
                <a:lnTo>
                  <a:pt x="4696703" y="0"/>
                </a:lnTo>
                <a:lnTo>
                  <a:pt x="4696703" y="4677133"/>
                </a:lnTo>
                <a:lnTo>
                  <a:pt x="0" y="46771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739346" y="2338687"/>
            <a:ext cx="4696703" cy="4677134"/>
          </a:xfrm>
          <a:custGeom>
            <a:avLst/>
            <a:gdLst/>
            <a:ahLst/>
            <a:cxnLst/>
            <a:rect r="r" b="b" t="t" l="l"/>
            <a:pathLst>
              <a:path h="4677134" w="4696703">
                <a:moveTo>
                  <a:pt x="0" y="0"/>
                </a:moveTo>
                <a:lnTo>
                  <a:pt x="4696703" y="0"/>
                </a:lnTo>
                <a:lnTo>
                  <a:pt x="4696703" y="4677133"/>
                </a:lnTo>
                <a:lnTo>
                  <a:pt x="0" y="46771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0">
            <a:off x="1435551" y="891010"/>
            <a:ext cx="2977075" cy="275379"/>
          </a:xfrm>
          <a:custGeom>
            <a:avLst/>
            <a:gdLst/>
            <a:ahLst/>
            <a:cxnLst/>
            <a:rect r="r" b="b" t="t" l="l"/>
            <a:pathLst>
              <a:path h="275379" w="2977075">
                <a:moveTo>
                  <a:pt x="0" y="0"/>
                </a:moveTo>
                <a:lnTo>
                  <a:pt x="2977074" y="0"/>
                </a:lnTo>
                <a:lnTo>
                  <a:pt x="2977074" y="275380"/>
                </a:lnTo>
                <a:lnTo>
                  <a:pt x="0" y="2753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982501" y="1319251"/>
            <a:ext cx="7109995" cy="1111250"/>
          </a:xfrm>
          <a:prstGeom prst="rect">
            <a:avLst/>
          </a:prstGeom>
        </p:spPr>
        <p:txBody>
          <a:bodyPr anchor="t" rtlCol="false" tIns="0" lIns="0" bIns="0" rIns="0">
            <a:spAutoFit/>
          </a:bodyPr>
          <a:lstStyle/>
          <a:p>
            <a:pPr algn="l">
              <a:lnSpc>
                <a:spcPts val="9100"/>
              </a:lnSpc>
            </a:pPr>
            <a:r>
              <a:rPr lang="en-US" sz="6500" b="true">
                <a:solidFill>
                  <a:srgbClr val="FFFFFF"/>
                </a:solidFill>
                <a:latin typeface="Canva Sans Bold"/>
                <a:ea typeface="Canva Sans Bold"/>
                <a:cs typeface="Canva Sans Bold"/>
                <a:sym typeface="Canva Sans Bold"/>
              </a:rPr>
              <a:t>Market Analysis </a:t>
            </a:r>
          </a:p>
        </p:txBody>
      </p:sp>
      <p:sp>
        <p:nvSpPr>
          <p:cNvPr name="TextBox 5" id="5"/>
          <p:cNvSpPr txBox="true"/>
          <p:nvPr/>
        </p:nvSpPr>
        <p:spPr>
          <a:xfrm rot="0">
            <a:off x="8695868" y="1319251"/>
            <a:ext cx="10987420" cy="2222144"/>
          </a:xfrm>
          <a:prstGeom prst="rect">
            <a:avLst/>
          </a:prstGeom>
        </p:spPr>
        <p:txBody>
          <a:bodyPr anchor="t" rtlCol="false" tIns="0" lIns="0" bIns="0" rIns="0">
            <a:spAutoFit/>
          </a:bodyPr>
          <a:lstStyle/>
          <a:p>
            <a:pPr algn="l">
              <a:lnSpc>
                <a:spcPts val="8922"/>
              </a:lnSpc>
            </a:pPr>
            <a:r>
              <a:rPr lang="en-US" sz="6373" b="true">
                <a:solidFill>
                  <a:srgbClr val="05F4F9"/>
                </a:solidFill>
                <a:latin typeface="Canva Sans Bold"/>
                <a:ea typeface="Canva Sans Bold"/>
                <a:cs typeface="Canva Sans Bold"/>
                <a:sym typeface="Canva Sans Bold"/>
              </a:rPr>
              <a:t>&amp; Competitiors</a:t>
            </a:r>
          </a:p>
          <a:p>
            <a:pPr algn="l">
              <a:lnSpc>
                <a:spcPts val="8922"/>
              </a:lnSpc>
            </a:pPr>
          </a:p>
        </p:txBody>
      </p:sp>
      <p:sp>
        <p:nvSpPr>
          <p:cNvPr name="Freeform 6" id="6"/>
          <p:cNvSpPr/>
          <p:nvPr/>
        </p:nvSpPr>
        <p:spPr>
          <a:xfrm flipH="false" flipV="false" rot="0">
            <a:off x="15525393" y="6723500"/>
            <a:ext cx="4696703" cy="4677134"/>
          </a:xfrm>
          <a:custGeom>
            <a:avLst/>
            <a:gdLst/>
            <a:ahLst/>
            <a:cxnLst/>
            <a:rect r="r" b="b" t="t" l="l"/>
            <a:pathLst>
              <a:path h="4677134" w="4696703">
                <a:moveTo>
                  <a:pt x="0" y="0"/>
                </a:moveTo>
                <a:lnTo>
                  <a:pt x="4696704" y="0"/>
                </a:lnTo>
                <a:lnTo>
                  <a:pt x="4696704" y="4677134"/>
                </a:lnTo>
                <a:lnTo>
                  <a:pt x="0" y="46771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0">
            <a:off x="1435551" y="891010"/>
            <a:ext cx="2977075" cy="275379"/>
          </a:xfrm>
          <a:custGeom>
            <a:avLst/>
            <a:gdLst/>
            <a:ahLst/>
            <a:cxnLst/>
            <a:rect r="r" b="b" t="t" l="l"/>
            <a:pathLst>
              <a:path h="275379" w="2977075">
                <a:moveTo>
                  <a:pt x="0" y="0"/>
                </a:moveTo>
                <a:lnTo>
                  <a:pt x="2977074" y="0"/>
                </a:lnTo>
                <a:lnTo>
                  <a:pt x="2977074" y="275380"/>
                </a:lnTo>
                <a:lnTo>
                  <a:pt x="0" y="2753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614162" y="3469058"/>
            <a:ext cx="4696703" cy="4677134"/>
          </a:xfrm>
          <a:custGeom>
            <a:avLst/>
            <a:gdLst/>
            <a:ahLst/>
            <a:cxnLst/>
            <a:rect r="r" b="b" t="t" l="l"/>
            <a:pathLst>
              <a:path h="4677134" w="4696703">
                <a:moveTo>
                  <a:pt x="0" y="0"/>
                </a:moveTo>
                <a:lnTo>
                  <a:pt x="4696703" y="0"/>
                </a:lnTo>
                <a:lnTo>
                  <a:pt x="4696703" y="4677134"/>
                </a:lnTo>
                <a:lnTo>
                  <a:pt x="0" y="46771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0">
            <a:off x="14446145" y="-502997"/>
            <a:ext cx="4303256" cy="2033288"/>
          </a:xfrm>
          <a:custGeom>
            <a:avLst/>
            <a:gdLst/>
            <a:ahLst/>
            <a:cxnLst/>
            <a:rect r="r" b="b" t="t" l="l"/>
            <a:pathLst>
              <a:path h="2033288" w="4303256">
                <a:moveTo>
                  <a:pt x="0" y="2033288"/>
                </a:moveTo>
                <a:lnTo>
                  <a:pt x="4303256" y="2033288"/>
                </a:lnTo>
                <a:lnTo>
                  <a:pt x="4303256" y="0"/>
                </a:lnTo>
                <a:lnTo>
                  <a:pt x="0" y="0"/>
                </a:lnTo>
                <a:lnTo>
                  <a:pt x="0" y="2033288"/>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2724768" y="1703167"/>
            <a:ext cx="5622069" cy="1062990"/>
          </a:xfrm>
          <a:prstGeom prst="rect">
            <a:avLst/>
          </a:prstGeom>
        </p:spPr>
        <p:txBody>
          <a:bodyPr anchor="t" rtlCol="false" tIns="0" lIns="0" bIns="0" rIns="0">
            <a:spAutoFit/>
          </a:bodyPr>
          <a:lstStyle/>
          <a:p>
            <a:pPr algn="l">
              <a:lnSpc>
                <a:spcPts val="8580"/>
              </a:lnSpc>
            </a:pPr>
            <a:r>
              <a:rPr lang="en-US" sz="6500" b="true">
                <a:solidFill>
                  <a:srgbClr val="FFFFFF"/>
                </a:solidFill>
                <a:latin typeface="Proxima Nova Bold"/>
                <a:ea typeface="Proxima Nova Bold"/>
                <a:cs typeface="Proxima Nova Bold"/>
                <a:sym typeface="Proxima Nova Bold"/>
              </a:rPr>
              <a:t>Revenue </a:t>
            </a:r>
          </a:p>
        </p:txBody>
      </p:sp>
      <p:sp>
        <p:nvSpPr>
          <p:cNvPr name="TextBox 7" id="7"/>
          <p:cNvSpPr txBox="true"/>
          <p:nvPr/>
        </p:nvSpPr>
        <p:spPr>
          <a:xfrm rot="0">
            <a:off x="6332965" y="1703167"/>
            <a:ext cx="5622069" cy="1062990"/>
          </a:xfrm>
          <a:prstGeom prst="rect">
            <a:avLst/>
          </a:prstGeom>
        </p:spPr>
        <p:txBody>
          <a:bodyPr anchor="t" rtlCol="false" tIns="0" lIns="0" bIns="0" rIns="0">
            <a:spAutoFit/>
          </a:bodyPr>
          <a:lstStyle/>
          <a:p>
            <a:pPr algn="l">
              <a:lnSpc>
                <a:spcPts val="8580"/>
              </a:lnSpc>
            </a:pPr>
            <a:r>
              <a:rPr lang="en-US" sz="6500" b="true">
                <a:solidFill>
                  <a:srgbClr val="05F4F9"/>
                </a:solidFill>
                <a:latin typeface="Proxima Nova Bold"/>
                <a:ea typeface="Proxima Nova Bold"/>
                <a:cs typeface="Proxima Nova Bold"/>
                <a:sym typeface="Proxima Nova Bold"/>
              </a:rPr>
              <a:t>Generation</a:t>
            </a:r>
          </a:p>
        </p:txBody>
      </p:sp>
      <p:sp>
        <p:nvSpPr>
          <p:cNvPr name="TextBox 8" id="8"/>
          <p:cNvSpPr txBox="true"/>
          <p:nvPr/>
        </p:nvSpPr>
        <p:spPr>
          <a:xfrm rot="0">
            <a:off x="2724768" y="2921936"/>
            <a:ext cx="8402224" cy="1406525"/>
          </a:xfrm>
          <a:prstGeom prst="rect">
            <a:avLst/>
          </a:prstGeom>
        </p:spPr>
        <p:txBody>
          <a:bodyPr anchor="t" rtlCol="false" tIns="0" lIns="0" bIns="0" rIns="0">
            <a:spAutoFit/>
          </a:bodyPr>
          <a:lstStyle/>
          <a:p>
            <a:pPr algn="l">
              <a:lnSpc>
                <a:spcPts val="2800"/>
              </a:lnSpc>
            </a:pPr>
            <a:r>
              <a:rPr lang="en-US" sz="2000">
                <a:solidFill>
                  <a:srgbClr val="FFFFFF"/>
                </a:solidFill>
                <a:latin typeface="Canva Sans"/>
                <a:ea typeface="Canva Sans"/>
                <a:cs typeface="Canva Sans"/>
                <a:sym typeface="Canva Sans"/>
              </a:rPr>
              <a:t>Lorem ipsum dolor sit amet, consectetur adipiscing elit, sed do eiusmod tempor incididunt ut labore et dolore magna aliqua. Ut enim ad minim veniam, quis nostrud exercitation ullamco laboris nisi ut aliquip ex ea commodo consequat.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35551" y="891010"/>
            <a:ext cx="2977075" cy="275379"/>
          </a:xfrm>
          <a:custGeom>
            <a:avLst/>
            <a:gdLst/>
            <a:ahLst/>
            <a:cxnLst/>
            <a:rect r="r" b="b" t="t" l="l"/>
            <a:pathLst>
              <a:path h="275379" w="2977075">
                <a:moveTo>
                  <a:pt x="0" y="0"/>
                </a:moveTo>
                <a:lnTo>
                  <a:pt x="2977074" y="0"/>
                </a:lnTo>
                <a:lnTo>
                  <a:pt x="2977074" y="275380"/>
                </a:lnTo>
                <a:lnTo>
                  <a:pt x="0" y="2753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820314" y="4854373"/>
            <a:ext cx="10111821" cy="9475619"/>
          </a:xfrm>
          <a:custGeom>
            <a:avLst/>
            <a:gdLst/>
            <a:ahLst/>
            <a:cxnLst/>
            <a:rect r="r" b="b" t="t" l="l"/>
            <a:pathLst>
              <a:path h="9475619" w="10111821">
                <a:moveTo>
                  <a:pt x="0" y="0"/>
                </a:moveTo>
                <a:lnTo>
                  <a:pt x="10111822" y="0"/>
                </a:lnTo>
                <a:lnTo>
                  <a:pt x="10111822" y="9475619"/>
                </a:lnTo>
                <a:lnTo>
                  <a:pt x="0" y="94756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742376" y="1028700"/>
            <a:ext cx="8337290" cy="8229600"/>
          </a:xfrm>
          <a:custGeom>
            <a:avLst/>
            <a:gdLst/>
            <a:ahLst/>
            <a:cxnLst/>
            <a:rect r="r" b="b" t="t" l="l"/>
            <a:pathLst>
              <a:path h="8229600" w="8337290">
                <a:moveTo>
                  <a:pt x="0" y="0"/>
                </a:moveTo>
                <a:lnTo>
                  <a:pt x="8337290" y="0"/>
                </a:lnTo>
                <a:lnTo>
                  <a:pt x="8337290" y="8229600"/>
                </a:lnTo>
                <a:lnTo>
                  <a:pt x="0" y="8229600"/>
                </a:lnTo>
                <a:lnTo>
                  <a:pt x="0" y="0"/>
                </a:lnTo>
                <a:close/>
              </a:path>
            </a:pathLst>
          </a:custGeom>
          <a:blipFill>
            <a:blip r:embed="rId7"/>
            <a:stretch>
              <a:fillRect l="0" t="0" r="0" b="0"/>
            </a:stretch>
          </a:blipFill>
        </p:spPr>
      </p:sp>
      <p:sp>
        <p:nvSpPr>
          <p:cNvPr name="TextBox 6" id="6"/>
          <p:cNvSpPr txBox="true"/>
          <p:nvPr/>
        </p:nvSpPr>
        <p:spPr>
          <a:xfrm rot="0">
            <a:off x="4208334" y="3699763"/>
            <a:ext cx="6994027" cy="2080620"/>
          </a:xfrm>
          <a:prstGeom prst="rect">
            <a:avLst/>
          </a:prstGeom>
        </p:spPr>
        <p:txBody>
          <a:bodyPr anchor="t" rtlCol="false" tIns="0" lIns="0" bIns="0" rIns="0">
            <a:spAutoFit/>
          </a:bodyPr>
          <a:lstStyle/>
          <a:p>
            <a:pPr algn="ctr">
              <a:lnSpc>
                <a:spcPts val="17095"/>
              </a:lnSpc>
            </a:pPr>
            <a:r>
              <a:rPr lang="en-US" sz="12210" b="true">
                <a:solidFill>
                  <a:srgbClr val="FFFFFF"/>
                </a:solidFill>
                <a:latin typeface="Proxima Nova Bold"/>
                <a:ea typeface="Proxima Nova Bold"/>
                <a:cs typeface="Proxima Nova Bold"/>
                <a:sym typeface="Proxima Nova Bold"/>
              </a:rPr>
              <a:t>Thank </a:t>
            </a:r>
          </a:p>
        </p:txBody>
      </p:sp>
      <p:sp>
        <p:nvSpPr>
          <p:cNvPr name="TextBox 7" id="7"/>
          <p:cNvSpPr txBox="true"/>
          <p:nvPr/>
        </p:nvSpPr>
        <p:spPr>
          <a:xfrm rot="0">
            <a:off x="10179788" y="3699763"/>
            <a:ext cx="3899878" cy="2080620"/>
          </a:xfrm>
          <a:prstGeom prst="rect">
            <a:avLst/>
          </a:prstGeom>
        </p:spPr>
        <p:txBody>
          <a:bodyPr anchor="t" rtlCol="false" tIns="0" lIns="0" bIns="0" rIns="0">
            <a:spAutoFit/>
          </a:bodyPr>
          <a:lstStyle/>
          <a:p>
            <a:pPr algn="l">
              <a:lnSpc>
                <a:spcPts val="17095"/>
              </a:lnSpc>
            </a:pPr>
            <a:r>
              <a:rPr lang="en-US" sz="12210" b="true">
                <a:solidFill>
                  <a:srgbClr val="05F4F9"/>
                </a:solidFill>
                <a:latin typeface="Proxima Nova Bold"/>
                <a:ea typeface="Proxima Nova Bold"/>
                <a:cs typeface="Proxima Nova Bold"/>
                <a:sym typeface="Proxima Nova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DAHCyZtnW4U</dc:identifier>
  <dcterms:modified xsi:type="dcterms:W3CDTF">2011-08-01T06:04:30Z</dcterms:modified>
  <cp:revision>1</cp:revision>
  <dc:title>Black and Blue Futuristic Modern Technology Pitch Deck Presentation</dc:title>
</cp:coreProperties>
</file>